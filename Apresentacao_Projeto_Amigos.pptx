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600">
                <a:solidFill>
                  <a:srgbClr val="1E293B"/>
                </a:solidFill>
              </a:defRPr>
            </a:pPr>
            <a:r>
              <a:t>Apresentação do Projeto: Sistema CRUD de Amigos</a:t>
            </a:r>
          </a:p>
          <a:p>
            <a:pPr>
              <a:spcBef>
                <a:spcPts val="1600"/>
              </a:spcBef>
              <a:defRPr sz="2400">
                <a:solidFill>
                  <a:srgbClr val="475569"/>
                </a:solidFill>
              </a:defRPr>
            </a:pPr>
            <a:r>
              <a:t>Desenvolvimento de Sistemas II - Etec</a:t>
            </a:r>
          </a:p>
          <a:p>
            <a:pPr>
              <a:spcBef>
                <a:spcPts val="2400"/>
              </a:spcBef>
              <a:defRPr sz="1800">
                <a:solidFill>
                  <a:srgbClr val="64748B"/>
                </a:solidFill>
              </a:defRPr>
            </a:pPr>
            <a:r>
              <a:t>Aluno: Antonio Vieira | Professor(a): Alice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1E293B"/>
                </a:solidFill>
              </a:defRPr>
            </a:pPr>
            <a:r>
              <a:t>1. Visão Geral do Projeto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b="1" sz="2000">
                <a:solidFill>
                  <a:srgbClr val="0F172A"/>
                </a:solidFill>
              </a:defRPr>
            </a:pPr>
            <a:r>
              <a:t>• Objetivo do Sistema</a:t>
            </a:r>
          </a:p>
          <a:p>
            <a:pPr>
              <a:spcBef>
                <a:spcPts val="400"/>
              </a:spcBef>
              <a:defRPr sz="1600">
                <a:solidFill>
                  <a:srgbClr val="475569"/>
                </a:solidFill>
              </a:defRPr>
            </a:pPr>
            <a:r>
              <a:t>   Aplicações web para gestão de contatos pessoais com controle de autenticação.</a:t>
            </a:r>
          </a:p>
          <a:p>
            <a:pPr>
              <a:spcBef>
                <a:spcPts val="1200"/>
              </a:spcBef>
              <a:defRPr b="1" sz="2000">
                <a:solidFill>
                  <a:srgbClr val="0F172A"/>
                </a:solidFill>
              </a:defRPr>
            </a:pPr>
            <a:r>
              <a:t>• Arquitetura e Padrão</a:t>
            </a:r>
          </a:p>
          <a:p>
            <a:pPr>
              <a:spcBef>
                <a:spcPts val="400"/>
              </a:spcBef>
              <a:defRPr sz="1600">
                <a:solidFill>
                  <a:srgbClr val="475569"/>
                </a:solidFill>
              </a:defRPr>
            </a:pPr>
            <a:r>
              <a:t>   Aplicação desenvolvida em linguagem PHP conectada ao banco de dados MySQL.</a:t>
            </a:r>
          </a:p>
          <a:p>
            <a:pPr>
              <a:spcBef>
                <a:spcPts val="1200"/>
              </a:spcBef>
              <a:defRPr b="1" sz="2000">
                <a:solidFill>
                  <a:srgbClr val="0F172A"/>
                </a:solidFill>
              </a:defRPr>
            </a:pPr>
            <a:r>
              <a:t>• Segurança e Acesso</a:t>
            </a:r>
          </a:p>
          <a:p>
            <a:pPr>
              <a:spcBef>
                <a:spcPts val="400"/>
              </a:spcBef>
              <a:defRPr sz="1600">
                <a:solidFill>
                  <a:srgbClr val="475569"/>
                </a:solidFill>
              </a:defRPr>
            </a:pPr>
            <a:r>
              <a:t>   Restrição de acesso a utilizadores não autenticados através de gestão de sessões PHP.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1E293B"/>
                </a:solidFill>
              </a:defRPr>
            </a:pPr>
            <a:r>
              <a:t>2. Estrutura do Banco de 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b="1" sz="2000">
                <a:solidFill>
                  <a:srgbClr val="0F172A"/>
                </a:solidFill>
              </a:defRPr>
            </a:pPr>
            <a:r>
              <a:t>• Base de Dados</a:t>
            </a:r>
          </a:p>
          <a:p>
            <a:pPr>
              <a:spcBef>
                <a:spcPts val="400"/>
              </a:spcBef>
              <a:defRPr sz="1600">
                <a:solidFill>
                  <a:srgbClr val="475569"/>
                </a:solidFill>
              </a:defRPr>
            </a:pPr>
            <a:r>
              <a:t>   Nome da base de dados: sistema_amigos (executado via phpMyAdmin na porta 3307).</a:t>
            </a:r>
          </a:p>
          <a:p>
            <a:pPr>
              <a:spcBef>
                <a:spcPts val="1200"/>
              </a:spcBef>
              <a:defRPr b="1" sz="2000">
                <a:solidFill>
                  <a:srgbClr val="0F172A"/>
                </a:solidFill>
              </a:defRPr>
            </a:pPr>
            <a:r>
              <a:t>• Tabela 'amigos'</a:t>
            </a:r>
          </a:p>
          <a:p>
            <a:pPr>
              <a:spcBef>
                <a:spcPts val="400"/>
              </a:spcBef>
              <a:defRPr sz="1600">
                <a:solidFill>
                  <a:srgbClr val="475569"/>
                </a:solidFill>
              </a:defRPr>
            </a:pPr>
            <a:r>
              <a:t>   Campos: id (INT AUTO_INCREMENT PRIMARY KEY), nome (VARCHAR), email (VARCHAR), telefone (VARCHAR).</a:t>
            </a:r>
          </a:p>
          <a:p>
            <a:pPr>
              <a:spcBef>
                <a:spcPts val="1200"/>
              </a:spcBef>
              <a:defRPr b="1" sz="2000">
                <a:solidFill>
                  <a:srgbClr val="0F172A"/>
                </a:solidFill>
              </a:defRPr>
            </a:pPr>
            <a:r>
              <a:t>• Conexão Segura</a:t>
            </a:r>
          </a:p>
          <a:p>
            <a:pPr>
              <a:spcBef>
                <a:spcPts val="400"/>
              </a:spcBef>
              <a:defRPr sz="1600">
                <a:solidFill>
                  <a:srgbClr val="475569"/>
                </a:solidFill>
              </a:defRPr>
            </a:pPr>
            <a:r>
              <a:t>   Ficheiro conexao.php utilizando a extensão mysqli com tratamento de exceções (try/catch).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1E293B"/>
                </a:solidFill>
              </a:defRPr>
            </a:pPr>
            <a:r>
              <a:t>3. Autenticação e Gestão de Sessões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b="1" sz="2000">
                <a:solidFill>
                  <a:srgbClr val="0F172A"/>
                </a:solidFill>
              </a:defRPr>
            </a:pPr>
            <a:r>
              <a:t>• Tela de Login (login.php)</a:t>
            </a:r>
          </a:p>
          <a:p>
            <a:pPr>
              <a:spcBef>
                <a:spcPts val="400"/>
              </a:spcBef>
              <a:defRPr sz="1600">
                <a:solidFill>
                  <a:srgbClr val="475569"/>
                </a:solidFill>
              </a:defRPr>
            </a:pPr>
            <a:r>
              <a:t>   Validação de credenciais e inicialização da sessão com session_start().</a:t>
            </a:r>
          </a:p>
          <a:p>
            <a:pPr>
              <a:spcBef>
                <a:spcPts val="1200"/>
              </a:spcBef>
              <a:defRPr b="1" sz="2000">
                <a:solidFill>
                  <a:srgbClr val="0F172A"/>
                </a:solidFill>
              </a:defRPr>
            </a:pPr>
            <a:r>
              <a:t>• Proteção de Rotas</a:t>
            </a:r>
          </a:p>
          <a:p>
            <a:pPr>
              <a:spcBef>
                <a:spcPts val="400"/>
              </a:spcBef>
              <a:defRPr sz="1600">
                <a:solidFill>
                  <a:srgbClr val="475569"/>
                </a:solidFill>
              </a:defRPr>
            </a:pPr>
            <a:r>
              <a:t>   Verificação no ficheiro index.php se $_SESSION['usuario'] está definido; caso contrário, redireciona.</a:t>
            </a:r>
          </a:p>
          <a:p>
            <a:pPr>
              <a:spcBef>
                <a:spcPts val="1200"/>
              </a:spcBef>
              <a:defRPr b="1" sz="2000">
                <a:solidFill>
                  <a:srgbClr val="0F172A"/>
                </a:solidFill>
              </a:defRPr>
            </a:pPr>
            <a:r>
              <a:t>• Encerramento (logout.php)</a:t>
            </a:r>
          </a:p>
          <a:p>
            <a:pPr>
              <a:spcBef>
                <a:spcPts val="400"/>
              </a:spcBef>
              <a:defRPr sz="1600">
                <a:solidFill>
                  <a:srgbClr val="475569"/>
                </a:solidFill>
              </a:defRPr>
            </a:pPr>
            <a:r>
              <a:t>   Destruição completa da sessão com session_destroy() e limpeza de dados temporários.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1E293B"/>
                </a:solidFill>
              </a:defRPr>
            </a:pPr>
            <a:r>
              <a:t>4. Funcionalidades do CRUD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b="1" sz="2000">
                <a:solidFill>
                  <a:srgbClr val="0F172A"/>
                </a:solidFill>
              </a:defRPr>
            </a:pPr>
            <a:r>
              <a:t>• Inclusão (Create)</a:t>
            </a:r>
          </a:p>
          <a:p>
            <a:pPr>
              <a:spcBef>
                <a:spcPts val="400"/>
              </a:spcBef>
              <a:defRPr sz="1600">
                <a:solidFill>
                  <a:srgbClr val="475569"/>
                </a:solidFill>
              </a:defRPr>
            </a:pPr>
            <a:r>
              <a:t>   Formulário HTML que envia dados via POST executando comando INSERT INTO no MySQL.</a:t>
            </a:r>
          </a:p>
          <a:p>
            <a:pPr>
              <a:spcBef>
                <a:spcPts val="1200"/>
              </a:spcBef>
              <a:defRPr b="1" sz="2000">
                <a:solidFill>
                  <a:srgbClr val="0F172A"/>
                </a:solidFill>
              </a:defRPr>
            </a:pPr>
            <a:r>
              <a:t>• Listagem (Read)</a:t>
            </a:r>
          </a:p>
          <a:p>
            <a:pPr>
              <a:spcBef>
                <a:spcPts val="400"/>
              </a:spcBef>
              <a:defRPr sz="1600">
                <a:solidFill>
                  <a:srgbClr val="475569"/>
                </a:solidFill>
              </a:defRPr>
            </a:pPr>
            <a:r>
              <a:t>   Consulta SELECT * FROM amigos exibida dinamicamente numa tabela HTML.</a:t>
            </a:r>
          </a:p>
          <a:p>
            <a:pPr>
              <a:spcBef>
                <a:spcPts val="1200"/>
              </a:spcBef>
              <a:defRPr b="1" sz="2000">
                <a:solidFill>
                  <a:srgbClr val="0F172A"/>
                </a:solidFill>
              </a:defRPr>
            </a:pPr>
            <a:r>
              <a:t>• Exclusão (Delete)</a:t>
            </a:r>
          </a:p>
          <a:p>
            <a:pPr>
              <a:spcBef>
                <a:spcPts val="400"/>
              </a:spcBef>
              <a:defRPr sz="1600">
                <a:solidFill>
                  <a:srgbClr val="475569"/>
                </a:solidFill>
              </a:defRPr>
            </a:pPr>
            <a:r>
              <a:t>   Passagem de ID via parâmetro GET executando comando DELETE FROM amigos WHERE id = ?.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1E293B"/>
                </a:solidFill>
              </a:defRPr>
            </a:pPr>
            <a:r>
              <a:t>5. Conclusão e Demonstração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b="1" sz="2000">
                <a:solidFill>
                  <a:srgbClr val="0F172A"/>
                </a:solidFill>
              </a:defRPr>
            </a:pPr>
            <a:r>
              <a:t>• Competências Desenvolvidas</a:t>
            </a:r>
          </a:p>
          <a:p>
            <a:pPr>
              <a:spcBef>
                <a:spcPts val="400"/>
              </a:spcBef>
              <a:defRPr sz="1600">
                <a:solidFill>
                  <a:srgbClr val="475569"/>
                </a:solidFill>
              </a:defRPr>
            </a:pPr>
            <a:r>
              <a:t>   Integração PHP e MySQL, estrutura de segurança, boas práticas de versionamento com Git e GitHub.</a:t>
            </a:r>
          </a:p>
          <a:p>
            <a:pPr>
              <a:spcBef>
                <a:spcPts val="1200"/>
              </a:spcBef>
              <a:defRPr b="1" sz="2000">
                <a:solidFill>
                  <a:srgbClr val="0F172A"/>
                </a:solidFill>
              </a:defRPr>
            </a:pPr>
            <a:r>
              <a:t>• Repositório do Código</a:t>
            </a:r>
          </a:p>
          <a:p>
            <a:pPr>
              <a:spcBef>
                <a:spcPts val="400"/>
              </a:spcBef>
              <a:defRPr sz="1600">
                <a:solidFill>
                  <a:srgbClr val="475569"/>
                </a:solidFill>
              </a:defRPr>
            </a:pPr>
            <a:r>
              <a:t>   Código-fonte completo publicado no GitHub com documentação e badges profissionais.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